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serrat Medium" charset="1" panose="00000600000000000000"/>
      <p:regular r:id="rId11"/>
    </p:embeddedFont>
    <p:embeddedFont>
      <p:font typeface="Inter Light" charset="1" panose="020005030000000200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Relationship Id="rId7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FF0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0438" y="212693"/>
            <a:ext cx="6579603" cy="9869653"/>
            <a:chOff x="0" y="0"/>
            <a:chExt cx="8772804" cy="1315953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72779" cy="13159487"/>
            </a:xfrm>
            <a:custGeom>
              <a:avLst/>
              <a:gdLst/>
              <a:ahLst/>
              <a:cxnLst/>
              <a:rect r="r" b="b" t="t" l="l"/>
              <a:pathLst>
                <a:path h="13159487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13159487"/>
                  </a:lnTo>
                  <a:lnTo>
                    <a:pt x="0" y="1315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t="0" r="-2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3328940"/>
            <a:ext cx="9452677" cy="181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KOHLER Enterprise Intelligence Agent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5489705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Track 3: Unified Enterprise Conversational AI Agent Prototype — KOHLER‑MITWPU AI Research Lab case study. High‑impact executive summary of a permission‑aware copilot for enterprise governance.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1455"/>
            <a:ext cx="16315868" cy="181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Enterprise Challenge &amp; Strategic Opportunity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973544"/>
            <a:ext cx="1508617" cy="1885788"/>
            <a:chOff x="0" y="0"/>
            <a:chExt cx="2011490" cy="251438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011553" cy="2514346"/>
            </a:xfrm>
            <a:custGeom>
              <a:avLst/>
              <a:gdLst/>
              <a:ahLst/>
              <a:cxnLst/>
              <a:rect r="r" b="b" t="t" l="l"/>
              <a:pathLst>
                <a:path h="2514346" w="2011553">
                  <a:moveTo>
                    <a:pt x="0" y="0"/>
                  </a:moveTo>
                  <a:lnTo>
                    <a:pt x="2011553" y="0"/>
                  </a:lnTo>
                  <a:lnTo>
                    <a:pt x="2011553" y="2514346"/>
                  </a:lnTo>
                  <a:lnTo>
                    <a:pt x="0" y="2514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9" t="0" r="-186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56233" y="3954494"/>
            <a:ext cx="3338951" cy="90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Policy Fragmentation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6233" y="4954105"/>
            <a:ext cx="3338951" cy="325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Governance rules scattered across HR, Finance, Support, Data Privacy, and Legal — employees spend hours cross‑referencing PDFs for routine decisions.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9819" y="3973544"/>
            <a:ext cx="1508617" cy="1885788"/>
            <a:chOff x="0" y="0"/>
            <a:chExt cx="2011490" cy="25143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011553" cy="2514346"/>
            </a:xfrm>
            <a:custGeom>
              <a:avLst/>
              <a:gdLst/>
              <a:ahLst/>
              <a:cxnLst/>
              <a:rect r="r" b="b" t="t" l="l"/>
              <a:pathLst>
                <a:path h="2514346" w="2011553">
                  <a:moveTo>
                    <a:pt x="0" y="0"/>
                  </a:moveTo>
                  <a:lnTo>
                    <a:pt x="2011553" y="0"/>
                  </a:lnTo>
                  <a:lnTo>
                    <a:pt x="2011553" y="2514346"/>
                  </a:lnTo>
                  <a:lnTo>
                    <a:pt x="0" y="2514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9" t="0" r="-186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413071" y="3954494"/>
            <a:ext cx="3338951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Compliance Drift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13071" y="4510840"/>
            <a:ext cx="3338951" cy="234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Version confusion (e.g., $50/day in 2024 vs $75/day in 2026) causes erroneous filings and audit flags.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06646" y="3973544"/>
            <a:ext cx="1508617" cy="1885788"/>
            <a:chOff x="0" y="0"/>
            <a:chExt cx="2011490" cy="251438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011553" cy="2514346"/>
            </a:xfrm>
            <a:custGeom>
              <a:avLst/>
              <a:gdLst/>
              <a:ahLst/>
              <a:cxnLst/>
              <a:rect r="r" b="b" t="t" l="l"/>
              <a:pathLst>
                <a:path h="2514346" w="2011553">
                  <a:moveTo>
                    <a:pt x="0" y="0"/>
                  </a:moveTo>
                  <a:lnTo>
                    <a:pt x="2011553" y="0"/>
                  </a:lnTo>
                  <a:lnTo>
                    <a:pt x="2011553" y="2514346"/>
                  </a:lnTo>
                  <a:lnTo>
                    <a:pt x="0" y="2514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9" t="0" r="-186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969898" y="3954494"/>
            <a:ext cx="3338951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Security Risks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69898" y="4510840"/>
            <a:ext cx="3338951" cy="234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Generic chatbots lack deterministic access controls—sensitive policy data can leak if not filtered pre‑retrieval.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8451171"/>
            <a:ext cx="1631586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Opportunity: Deploy a unified agent for cross‑domain reasoning, deterministic RBAC filtering, temporal supersession handling, and multi‑format outputs (JSON, Excel, Email).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11060"/>
            <a:ext cx="16315868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Architectural Innovation &amp; Technical Moat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4232853"/>
            <a:ext cx="7018534" cy="3431534"/>
            <a:chOff x="0" y="0"/>
            <a:chExt cx="9358046" cy="45753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357995" cy="4575429"/>
            </a:xfrm>
            <a:custGeom>
              <a:avLst/>
              <a:gdLst/>
              <a:ahLst/>
              <a:cxnLst/>
              <a:rect r="r" b="b" t="t" l="l"/>
              <a:pathLst>
                <a:path h="4575429" w="9357995">
                  <a:moveTo>
                    <a:pt x="0" y="0"/>
                  </a:moveTo>
                  <a:lnTo>
                    <a:pt x="9357995" y="0"/>
                  </a:lnTo>
                  <a:lnTo>
                    <a:pt x="9357995" y="4575429"/>
                  </a:lnTo>
                  <a:lnTo>
                    <a:pt x="0" y="4575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7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9202" y="4503982"/>
            <a:ext cx="1514465" cy="38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200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Deterministic RBAC Gate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9202" y="4949380"/>
            <a:ext cx="1514465" cy="28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75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Pre-retrieval role check prevents data leaks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24971" y="4503982"/>
            <a:ext cx="1514465" cy="38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200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Supersession Engine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24971" y="4949380"/>
            <a:ext cx="1514465" cy="28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75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Policy conflict resolution with temporal rules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9202" y="6309208"/>
            <a:ext cx="1514465" cy="584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200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Observable Confidence Scoring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9202" y="6949583"/>
            <a:ext cx="1514465" cy="28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75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Multi-factor signals produce trust scores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17923" y="6309208"/>
            <a:ext cx="1514465" cy="19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200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Artifact Synthesis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7923" y="6559639"/>
            <a:ext cx="1514465" cy="28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75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Dynamic generation in multiple formats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604609" y="2326510"/>
            <a:ext cx="4261495" cy="3253845"/>
            <a:chOff x="0" y="0"/>
            <a:chExt cx="5681993" cy="43384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81980" cy="4338574"/>
            </a:xfrm>
            <a:custGeom>
              <a:avLst/>
              <a:gdLst/>
              <a:ahLst/>
              <a:cxnLst/>
              <a:rect r="r" b="b" t="t" l="l"/>
              <a:pathLst>
                <a:path h="4338574" w="5681980">
                  <a:moveTo>
                    <a:pt x="0" y="290322"/>
                  </a:moveTo>
                  <a:cubicBezTo>
                    <a:pt x="0" y="129921"/>
                    <a:pt x="129921" y="0"/>
                    <a:pt x="290322" y="0"/>
                  </a:cubicBezTo>
                  <a:lnTo>
                    <a:pt x="5391658" y="0"/>
                  </a:lnTo>
                  <a:cubicBezTo>
                    <a:pt x="5551932" y="0"/>
                    <a:pt x="5681980" y="129921"/>
                    <a:pt x="5681980" y="290322"/>
                  </a:cubicBezTo>
                  <a:lnTo>
                    <a:pt x="5681980" y="4048252"/>
                  </a:lnTo>
                  <a:cubicBezTo>
                    <a:pt x="5681980" y="4208526"/>
                    <a:pt x="5552059" y="4338574"/>
                    <a:pt x="5391658" y="4338574"/>
                  </a:cubicBezTo>
                  <a:lnTo>
                    <a:pt x="290322" y="4338574"/>
                  </a:lnTo>
                  <a:cubicBezTo>
                    <a:pt x="129921" y="4338447"/>
                    <a:pt x="0" y="4208526"/>
                    <a:pt x="0" y="4048125"/>
                  </a:cubicBezTo>
                  <a:close/>
                </a:path>
              </a:pathLst>
            </a:custGeom>
            <a:solidFill>
              <a:srgbClr val="EFF0F6"/>
            </a:solidFill>
            <a:ln w="9532" cap="sq">
              <a:solidFill>
                <a:srgbClr val="C5C7D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860041" y="2562901"/>
            <a:ext cx="3750631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Deterministic RBAC Gate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60041" y="3492932"/>
            <a:ext cx="3750631" cy="147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Evaluates user roles against document access tiers before retrieval — prevents unauthorized context leakage.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061509" y="2326510"/>
            <a:ext cx="4261495" cy="3253845"/>
            <a:chOff x="0" y="0"/>
            <a:chExt cx="5681993" cy="43384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81980" cy="4338574"/>
            </a:xfrm>
            <a:custGeom>
              <a:avLst/>
              <a:gdLst/>
              <a:ahLst/>
              <a:cxnLst/>
              <a:rect r="r" b="b" t="t" l="l"/>
              <a:pathLst>
                <a:path h="4338574" w="5681980">
                  <a:moveTo>
                    <a:pt x="0" y="290322"/>
                  </a:moveTo>
                  <a:cubicBezTo>
                    <a:pt x="0" y="129921"/>
                    <a:pt x="129921" y="0"/>
                    <a:pt x="290322" y="0"/>
                  </a:cubicBezTo>
                  <a:lnTo>
                    <a:pt x="5391658" y="0"/>
                  </a:lnTo>
                  <a:cubicBezTo>
                    <a:pt x="5551932" y="0"/>
                    <a:pt x="5681980" y="129921"/>
                    <a:pt x="5681980" y="290322"/>
                  </a:cubicBezTo>
                  <a:lnTo>
                    <a:pt x="5681980" y="4048252"/>
                  </a:lnTo>
                  <a:cubicBezTo>
                    <a:pt x="5681980" y="4208526"/>
                    <a:pt x="5552059" y="4338574"/>
                    <a:pt x="5391658" y="4338574"/>
                  </a:cubicBezTo>
                  <a:lnTo>
                    <a:pt x="290322" y="4338574"/>
                  </a:lnTo>
                  <a:cubicBezTo>
                    <a:pt x="129921" y="4338447"/>
                    <a:pt x="0" y="4208526"/>
                    <a:pt x="0" y="4048125"/>
                  </a:cubicBezTo>
                  <a:close/>
                </a:path>
              </a:pathLst>
            </a:custGeom>
            <a:solidFill>
              <a:srgbClr val="EFF0F6"/>
            </a:solidFill>
            <a:ln w="9532" cap="sq">
              <a:solidFill>
                <a:srgbClr val="C5C7D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3316941" y="2562901"/>
            <a:ext cx="3750631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Temporal Supersession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16941" y="3492932"/>
            <a:ext cx="3750631" cy="18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Tracks metadata (supersedesId, effective date) to detect and enforce current policies (e.g., auto‑apply $75/day when 2024 rule is superseded).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604609" y="5775770"/>
            <a:ext cx="4261495" cy="3253845"/>
            <a:chOff x="0" y="0"/>
            <a:chExt cx="5681993" cy="43384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81980" cy="4338574"/>
            </a:xfrm>
            <a:custGeom>
              <a:avLst/>
              <a:gdLst/>
              <a:ahLst/>
              <a:cxnLst/>
              <a:rect r="r" b="b" t="t" l="l"/>
              <a:pathLst>
                <a:path h="4338574" w="5681980">
                  <a:moveTo>
                    <a:pt x="0" y="290322"/>
                  </a:moveTo>
                  <a:cubicBezTo>
                    <a:pt x="0" y="129921"/>
                    <a:pt x="129921" y="0"/>
                    <a:pt x="290322" y="0"/>
                  </a:cubicBezTo>
                  <a:lnTo>
                    <a:pt x="5391658" y="0"/>
                  </a:lnTo>
                  <a:cubicBezTo>
                    <a:pt x="5551932" y="0"/>
                    <a:pt x="5681980" y="129921"/>
                    <a:pt x="5681980" y="290322"/>
                  </a:cubicBezTo>
                  <a:lnTo>
                    <a:pt x="5681980" y="4048252"/>
                  </a:lnTo>
                  <a:cubicBezTo>
                    <a:pt x="5681980" y="4208526"/>
                    <a:pt x="5552059" y="4338574"/>
                    <a:pt x="5391658" y="4338574"/>
                  </a:cubicBezTo>
                  <a:lnTo>
                    <a:pt x="290322" y="4338574"/>
                  </a:lnTo>
                  <a:cubicBezTo>
                    <a:pt x="129921" y="4338447"/>
                    <a:pt x="0" y="4208526"/>
                    <a:pt x="0" y="4048125"/>
                  </a:cubicBezTo>
                  <a:close/>
                </a:path>
              </a:pathLst>
            </a:custGeom>
            <a:solidFill>
              <a:srgbClr val="EFF0F6"/>
            </a:solidFill>
            <a:ln w="9532" cap="sq">
              <a:solidFill>
                <a:srgbClr val="C5C7D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860041" y="6012161"/>
            <a:ext cx="3750631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Observable Confidence Scoring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60041" y="6942191"/>
            <a:ext cx="3750631" cy="18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Composite, auditable score: Retrieval Relevance 30%, Authority 25%, Freshness 20%, Conflict Freedom 15%, Numerical Grounding 10%.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061509" y="5775770"/>
            <a:ext cx="4261495" cy="3253845"/>
            <a:chOff x="0" y="0"/>
            <a:chExt cx="5681993" cy="43384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81980" cy="4338574"/>
            </a:xfrm>
            <a:custGeom>
              <a:avLst/>
              <a:gdLst/>
              <a:ahLst/>
              <a:cxnLst/>
              <a:rect r="r" b="b" t="t" l="l"/>
              <a:pathLst>
                <a:path h="4338574" w="5681980">
                  <a:moveTo>
                    <a:pt x="0" y="290322"/>
                  </a:moveTo>
                  <a:cubicBezTo>
                    <a:pt x="0" y="129921"/>
                    <a:pt x="129921" y="0"/>
                    <a:pt x="290322" y="0"/>
                  </a:cubicBezTo>
                  <a:lnTo>
                    <a:pt x="5391658" y="0"/>
                  </a:lnTo>
                  <a:cubicBezTo>
                    <a:pt x="5551932" y="0"/>
                    <a:pt x="5681980" y="129921"/>
                    <a:pt x="5681980" y="290322"/>
                  </a:cubicBezTo>
                  <a:lnTo>
                    <a:pt x="5681980" y="4048252"/>
                  </a:lnTo>
                  <a:cubicBezTo>
                    <a:pt x="5681980" y="4208526"/>
                    <a:pt x="5552059" y="4338574"/>
                    <a:pt x="5391658" y="4338574"/>
                  </a:cubicBezTo>
                  <a:lnTo>
                    <a:pt x="290322" y="4338574"/>
                  </a:lnTo>
                  <a:cubicBezTo>
                    <a:pt x="129921" y="4338447"/>
                    <a:pt x="0" y="4208526"/>
                    <a:pt x="0" y="4048125"/>
                  </a:cubicBezTo>
                  <a:close/>
                </a:path>
              </a:pathLst>
            </a:custGeom>
            <a:solidFill>
              <a:srgbClr val="EFF0F6"/>
            </a:solidFill>
            <a:ln w="9532" cap="sq">
              <a:solidFill>
                <a:srgbClr val="C5C7D2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3316941" y="6012161"/>
            <a:ext cx="3750631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Artifact Synthesis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16941" y="6565363"/>
            <a:ext cx="3750631" cy="147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Generates schema‑validated JSON, binary .xlsx workbooks, and structured executive emails for downstream workflows.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02027"/>
            <a:ext cx="16315868" cy="86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Empirical Validation &amp; Scenario Performance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275570"/>
            <a:ext cx="539020" cy="539029"/>
          </a:xfrm>
          <a:custGeom>
            <a:avLst/>
            <a:gdLst/>
            <a:ahLst/>
            <a:cxnLst/>
            <a:rect r="r" b="b" t="t" l="l"/>
            <a:pathLst>
              <a:path h="539029" w="539020">
                <a:moveTo>
                  <a:pt x="0" y="0"/>
                </a:moveTo>
                <a:lnTo>
                  <a:pt x="539020" y="0"/>
                </a:lnTo>
                <a:lnTo>
                  <a:pt x="539020" y="539029"/>
                </a:lnTo>
                <a:lnTo>
                  <a:pt x="0" y="53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054" t="0" r="-2105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52079" y="2358695"/>
            <a:ext cx="7138730" cy="43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Coverage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2079" y="2876169"/>
            <a:ext cx="7138730" cy="9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8/8 case study scenarios passed — automated live executions across official scenarios.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10888" y="2275570"/>
            <a:ext cx="539020" cy="539029"/>
          </a:xfrm>
          <a:custGeom>
            <a:avLst/>
            <a:gdLst/>
            <a:ahLst/>
            <a:cxnLst/>
            <a:rect r="r" b="b" t="t" l="l"/>
            <a:pathLst>
              <a:path h="539029" w="539020">
                <a:moveTo>
                  <a:pt x="0" y="0"/>
                </a:moveTo>
                <a:lnTo>
                  <a:pt x="539019" y="0"/>
                </a:lnTo>
                <a:lnTo>
                  <a:pt x="539019" y="539029"/>
                </a:lnTo>
                <a:lnTo>
                  <a:pt x="0" y="539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8421" t="0" r="-1842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69976" y="2358695"/>
            <a:ext cx="7138883" cy="43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Latency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9976" y="2876169"/>
            <a:ext cx="7138883" cy="9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Average execution latency ≈ 320 ms (measured in‑browser via performance.now()).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4295861"/>
            <a:ext cx="539020" cy="539029"/>
          </a:xfrm>
          <a:custGeom>
            <a:avLst/>
            <a:gdLst/>
            <a:ahLst/>
            <a:cxnLst/>
            <a:rect r="r" b="b" t="t" l="l"/>
            <a:pathLst>
              <a:path h="539029" w="539020">
                <a:moveTo>
                  <a:pt x="0" y="0"/>
                </a:moveTo>
                <a:lnTo>
                  <a:pt x="539020" y="0"/>
                </a:lnTo>
                <a:lnTo>
                  <a:pt x="539020" y="539029"/>
                </a:lnTo>
                <a:lnTo>
                  <a:pt x="0" y="539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3155" r="0" b="-1315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52079" y="4378976"/>
            <a:ext cx="7138730" cy="43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RBAC Containment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2079" y="4896450"/>
            <a:ext cx="7138730" cy="9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100% deterministic containment — employees receive 0 restricted executive chunks.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10888" y="4295861"/>
            <a:ext cx="539020" cy="539029"/>
          </a:xfrm>
          <a:custGeom>
            <a:avLst/>
            <a:gdLst/>
            <a:ahLst/>
            <a:cxnLst/>
            <a:rect r="r" b="b" t="t" l="l"/>
            <a:pathLst>
              <a:path h="539029" w="539020">
                <a:moveTo>
                  <a:pt x="0" y="0"/>
                </a:moveTo>
                <a:lnTo>
                  <a:pt x="539019" y="0"/>
                </a:lnTo>
                <a:lnTo>
                  <a:pt x="539019" y="539029"/>
                </a:lnTo>
                <a:lnTo>
                  <a:pt x="0" y="539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015" r="0" b="-701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169976" y="4378976"/>
            <a:ext cx="7138883" cy="43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Structured Output Validity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69976" y="4896450"/>
            <a:ext cx="7138883" cy="9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100% valid: JSON parses and Excel generates as genuine binary workbook.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6316142"/>
            <a:ext cx="539020" cy="539029"/>
          </a:xfrm>
          <a:custGeom>
            <a:avLst/>
            <a:gdLst/>
            <a:ahLst/>
            <a:cxnLst/>
            <a:rect r="r" b="b" t="t" l="l"/>
            <a:pathLst>
              <a:path h="539029" w="539020">
                <a:moveTo>
                  <a:pt x="0" y="0"/>
                </a:moveTo>
                <a:lnTo>
                  <a:pt x="539020" y="0"/>
                </a:lnTo>
                <a:lnTo>
                  <a:pt x="539020" y="539029"/>
                </a:lnTo>
                <a:lnTo>
                  <a:pt x="0" y="539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8769" r="0" b="-87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52079" y="6399257"/>
            <a:ext cx="7138730" cy="43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Estimated Savings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52079" y="6916731"/>
            <a:ext cx="7138730" cy="13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Prototype estimate: ~1.8 hours saved per query compared to manual 5‑repository cross‑checks (modeled, not empirically measured).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10888" y="6316142"/>
            <a:ext cx="539020" cy="539029"/>
          </a:xfrm>
          <a:custGeom>
            <a:avLst/>
            <a:gdLst/>
            <a:ahLst/>
            <a:cxnLst/>
            <a:rect r="r" b="b" t="t" l="l"/>
            <a:pathLst>
              <a:path h="539029" w="539020">
                <a:moveTo>
                  <a:pt x="0" y="0"/>
                </a:moveTo>
                <a:lnTo>
                  <a:pt x="539019" y="0"/>
                </a:lnTo>
                <a:lnTo>
                  <a:pt x="539019" y="539029"/>
                </a:lnTo>
                <a:lnTo>
                  <a:pt x="0" y="5390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4387" t="0" r="-438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169976" y="6399257"/>
            <a:ext cx="7138883" cy="43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Hallucination Rate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69976" y="6916731"/>
            <a:ext cx="7138883" cy="9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Not measured — requires longitudinal human evaluation; transparently labeled N/A.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991" y="8466211"/>
            <a:ext cx="16315868" cy="90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Live prototype demos: grounded $75/day calculation with citations; cross‑domain synthesis (Privacy, Legal, Support); deterministic RBAC tests; .xlsx generation; ReAct flows with human approval gates.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0703"/>
            <a:ext cx="16315868" cy="71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 Impact &amp; Production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091520"/>
            <a:ext cx="7885366" cy="99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The KOHLER agent pairs foundation models with deterministic security, temporal reasoning, and human‑in‑the‑loop governance for a production‑ready enterprise AI.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55320" y="1999879"/>
            <a:ext cx="6240618" cy="2740285"/>
            <a:chOff x="0" y="0"/>
            <a:chExt cx="8320824" cy="365371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320786" cy="3653663"/>
            </a:xfrm>
            <a:custGeom>
              <a:avLst/>
              <a:gdLst/>
              <a:ahLst/>
              <a:cxnLst/>
              <a:rect r="r" b="b" t="t" l="l"/>
              <a:pathLst>
                <a:path h="3653663" w="8320786">
                  <a:moveTo>
                    <a:pt x="0" y="0"/>
                  </a:moveTo>
                  <a:lnTo>
                    <a:pt x="8320786" y="0"/>
                  </a:lnTo>
                  <a:lnTo>
                    <a:pt x="8320786" y="3653663"/>
                  </a:lnTo>
                  <a:lnTo>
                    <a:pt x="0" y="3653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" r="0" b="-68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992991" y="5613864"/>
            <a:ext cx="5321360" cy="2558567"/>
          </a:xfrm>
          <a:custGeom>
            <a:avLst/>
            <a:gdLst/>
            <a:ahLst/>
            <a:cxnLst/>
            <a:rect r="r" b="b" t="t" l="l"/>
            <a:pathLst>
              <a:path h="2558567" w="5321360">
                <a:moveTo>
                  <a:pt x="0" y="0"/>
                </a:moveTo>
                <a:lnTo>
                  <a:pt x="5321360" y="0"/>
                </a:lnTo>
                <a:lnTo>
                  <a:pt x="5321360" y="2558567"/>
                </a:lnTo>
                <a:lnTo>
                  <a:pt x="0" y="255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8" r="0" b="-22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519621" y="5781427"/>
            <a:ext cx="268091" cy="335128"/>
            <a:chOff x="0" y="0"/>
            <a:chExt cx="357454" cy="446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7457" cy="446833"/>
            </a:xfrm>
            <a:custGeom>
              <a:avLst/>
              <a:gdLst/>
              <a:ahLst/>
              <a:cxnLst/>
              <a:rect r="r" b="b" t="t" l="l"/>
              <a:pathLst>
                <a:path h="446833" w="357457">
                  <a:moveTo>
                    <a:pt x="0" y="0"/>
                  </a:moveTo>
                  <a:lnTo>
                    <a:pt x="357457" y="0"/>
                  </a:lnTo>
                  <a:lnTo>
                    <a:pt x="357457" y="446833"/>
                  </a:lnTo>
                  <a:lnTo>
                    <a:pt x="0" y="4468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5" t="0" r="-1103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57454" cy="446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44994" y="6498012"/>
            <a:ext cx="4817335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Decision Velocity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994" y="6923865"/>
            <a:ext cx="4817335" cy="6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Replaces 1.5–2 hours of manual policy hunting with sub‑second verified answers.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6490240" y="5613864"/>
            <a:ext cx="5321360" cy="2558567"/>
          </a:xfrm>
          <a:custGeom>
            <a:avLst/>
            <a:gdLst/>
            <a:ahLst/>
            <a:cxnLst/>
            <a:rect r="r" b="b" t="t" l="l"/>
            <a:pathLst>
              <a:path h="2558567" w="5321360">
                <a:moveTo>
                  <a:pt x="0" y="0"/>
                </a:moveTo>
                <a:lnTo>
                  <a:pt x="5321360" y="0"/>
                </a:lnTo>
                <a:lnTo>
                  <a:pt x="5321360" y="2558567"/>
                </a:lnTo>
                <a:lnTo>
                  <a:pt x="0" y="255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8" r="0" b="-228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016870" y="5781427"/>
            <a:ext cx="268091" cy="335128"/>
            <a:chOff x="0" y="0"/>
            <a:chExt cx="357454" cy="4468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7457" cy="446833"/>
            </a:xfrm>
            <a:custGeom>
              <a:avLst/>
              <a:gdLst/>
              <a:ahLst/>
              <a:cxnLst/>
              <a:rect r="r" b="b" t="t" l="l"/>
              <a:pathLst>
                <a:path h="446833" w="357457">
                  <a:moveTo>
                    <a:pt x="0" y="0"/>
                  </a:moveTo>
                  <a:lnTo>
                    <a:pt x="357457" y="0"/>
                  </a:lnTo>
                  <a:lnTo>
                    <a:pt x="357457" y="446833"/>
                  </a:lnTo>
                  <a:lnTo>
                    <a:pt x="0" y="4468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5" t="0" r="-11038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57454" cy="446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742252" y="6498012"/>
            <a:ext cx="4817335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Audit &amp; Compliance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2252" y="6923865"/>
            <a:ext cx="4817335" cy="99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Eliminates reliance on superseded policies and provides centralized audit logs of automated lookups.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1987498" y="5613864"/>
            <a:ext cx="5321360" cy="2558567"/>
          </a:xfrm>
          <a:custGeom>
            <a:avLst/>
            <a:gdLst/>
            <a:ahLst/>
            <a:cxnLst/>
            <a:rect r="r" b="b" t="t" l="l"/>
            <a:pathLst>
              <a:path h="2558567" w="5321360">
                <a:moveTo>
                  <a:pt x="0" y="0"/>
                </a:moveTo>
                <a:lnTo>
                  <a:pt x="5321361" y="0"/>
                </a:lnTo>
                <a:lnTo>
                  <a:pt x="5321361" y="2558567"/>
                </a:lnTo>
                <a:lnTo>
                  <a:pt x="0" y="255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8" r="0" b="-228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514128" y="5781427"/>
            <a:ext cx="268091" cy="335128"/>
            <a:chOff x="0" y="0"/>
            <a:chExt cx="357454" cy="4468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7457" cy="446833"/>
            </a:xfrm>
            <a:custGeom>
              <a:avLst/>
              <a:gdLst/>
              <a:ahLst/>
              <a:cxnLst/>
              <a:rect r="r" b="b" t="t" l="l"/>
              <a:pathLst>
                <a:path h="446833" w="357457">
                  <a:moveTo>
                    <a:pt x="0" y="0"/>
                  </a:moveTo>
                  <a:lnTo>
                    <a:pt x="357457" y="0"/>
                  </a:lnTo>
                  <a:lnTo>
                    <a:pt x="357457" y="446833"/>
                  </a:lnTo>
                  <a:lnTo>
                    <a:pt x="0" y="4468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5" t="0" r="-11038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57454" cy="446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239501" y="6498012"/>
            <a:ext cx="4817335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Workflow Automation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39501" y="6923865"/>
            <a:ext cx="4817335" cy="99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Auto‑generates audit spreadsheets and procurement emails to reduce manager friction.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991" y="8370380"/>
            <a:ext cx="16315868" cy="1084907"/>
            <a:chOff x="0" y="0"/>
            <a:chExt cx="21754490" cy="14465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54464" cy="1446530"/>
            </a:xfrm>
            <a:custGeom>
              <a:avLst/>
              <a:gdLst/>
              <a:ahLst/>
              <a:cxnLst/>
              <a:rect r="r" b="b" t="t" l="l"/>
              <a:pathLst>
                <a:path h="1446530" w="21754464">
                  <a:moveTo>
                    <a:pt x="0" y="268097"/>
                  </a:moveTo>
                  <a:cubicBezTo>
                    <a:pt x="0" y="120015"/>
                    <a:pt x="120015" y="0"/>
                    <a:pt x="268097" y="0"/>
                  </a:cubicBezTo>
                  <a:lnTo>
                    <a:pt x="21486368" y="0"/>
                  </a:lnTo>
                  <a:cubicBezTo>
                    <a:pt x="21634450" y="0"/>
                    <a:pt x="21754464" y="120015"/>
                    <a:pt x="21754464" y="268097"/>
                  </a:cubicBezTo>
                  <a:lnTo>
                    <a:pt x="21754464" y="1178433"/>
                  </a:lnTo>
                  <a:cubicBezTo>
                    <a:pt x="21754464" y="1326515"/>
                    <a:pt x="21634450" y="1446530"/>
                    <a:pt x="21486368" y="1446530"/>
                  </a:cubicBezTo>
                  <a:lnTo>
                    <a:pt x="268097" y="1446530"/>
                  </a:lnTo>
                  <a:cubicBezTo>
                    <a:pt x="120015" y="1446530"/>
                    <a:pt x="0" y="1326515"/>
                    <a:pt x="0" y="1178433"/>
                  </a:cubicBezTo>
                  <a:close/>
                </a:path>
              </a:pathLst>
            </a:custGeom>
            <a:solidFill>
              <a:srgbClr val="DFE1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6400" y="8625821"/>
            <a:ext cx="279263" cy="223418"/>
            <a:chOff x="0" y="0"/>
            <a:chExt cx="372351" cy="297891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72364" cy="297942"/>
            </a:xfrm>
            <a:custGeom>
              <a:avLst/>
              <a:gdLst/>
              <a:ahLst/>
              <a:cxnLst/>
              <a:rect r="r" b="b" t="t" l="l"/>
              <a:pathLst>
                <a:path h="297942" w="372364">
                  <a:moveTo>
                    <a:pt x="0" y="0"/>
                  </a:moveTo>
                  <a:lnTo>
                    <a:pt x="372364" y="0"/>
                  </a:lnTo>
                  <a:lnTo>
                    <a:pt x="372364" y="297942"/>
                  </a:lnTo>
                  <a:lnTo>
                    <a:pt x="0" y="297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1" b="17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19072" y="8564042"/>
            <a:ext cx="15366368" cy="6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Takeaway: A mature vision for enterprise AI — deterministic access, temporal policy reasoning, and artifact synthesis enable secure, auditable, high‑value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DAHVeFHWRcw</dc:identifier>
  <dcterms:modified xsi:type="dcterms:W3CDTF">2011-08-01T06:04:30Z</dcterms:modified>
  <cp:revision>1</cp:revision>
</cp:coreProperties>
</file>