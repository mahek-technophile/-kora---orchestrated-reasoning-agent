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Montserrat Medium" charset="1" panose="00000600000000000000"/>
      <p:regular r:id="rId13"/>
    </p:embeddedFont>
    <p:embeddedFont>
      <p:font typeface="Inter Light" charset="1" panose="02000503000000020004"/>
      <p:regular r:id="rId14"/>
    </p:embeddedFont>
    <p:embeddedFont>
      <p:font typeface="Inter Bold" charset="1" panose="02000503000000020004"/>
      <p:regular r:id="rId15"/>
    </p:embeddedFont>
    <p:embeddedFont>
      <p:font typeface="Inter Light Italics" charset="1" panose="02000503000000020004"/>
      <p:regular r:id="rId16"/>
    </p:embeddedFont>
    <p:embeddedFont>
      <p:font typeface="Inter" charset="1" panose="020005030000000200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https://gamma.app/?utm_source=made-with-gamma" TargetMode="External" Type="http://schemas.openxmlformats.org/officeDocument/2006/relationships/hyperlink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4.jpe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7.png" Type="http://schemas.openxmlformats.org/officeDocument/2006/relationships/image"/><Relationship Id="rId9" Target="../media/image1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>
                <a:alpha val="97647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8649" y="0"/>
            <a:ext cx="6863191" cy="10295039"/>
            <a:chOff x="0" y="0"/>
            <a:chExt cx="9150922" cy="1372671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FF0F6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580438" y="212693"/>
            <a:ext cx="6579603" cy="9869653"/>
            <a:chOff x="0" y="0"/>
            <a:chExt cx="8772804" cy="13159537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8772779" cy="13159487"/>
            </a:xfrm>
            <a:custGeom>
              <a:avLst/>
              <a:gdLst/>
              <a:ahLst/>
              <a:cxnLst/>
              <a:rect r="r" b="b" t="t" l="l"/>
              <a:pathLst>
                <a:path h="13159487" w="8772779">
                  <a:moveTo>
                    <a:pt x="0" y="0"/>
                  </a:moveTo>
                  <a:lnTo>
                    <a:pt x="8772779" y="0"/>
                  </a:lnTo>
                  <a:lnTo>
                    <a:pt x="8772779" y="13159487"/>
                  </a:lnTo>
                  <a:lnTo>
                    <a:pt x="0" y="131594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5" t="0" r="-25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92991" y="3328940"/>
            <a:ext cx="9452677" cy="1756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 b="true">
                <a:solidFill>
                  <a:srgbClr val="7476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KOHLER Enterprise Intelligence Agent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991" y="5489705"/>
            <a:ext cx="9452677" cy="1438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Track 3: Unified Enterprise Conversational AI Agent Prototype — KOHLER‑MITWPU AI Research Lab case study. High‑impact executive summary of a permission‑aware copilot for enterprise governance.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64233" y="0"/>
            <a:ext cx="18394648" cy="10347245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784793"/>
            <a:ext cx="16315868" cy="664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58"/>
              </a:lnSpc>
            </a:pPr>
            <a:r>
              <a:rPr lang="en-US" sz="4053" b="true">
                <a:solidFill>
                  <a:srgbClr val="7476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Core Approach 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991" y="1729569"/>
            <a:ext cx="17230954" cy="319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4"/>
              </a:lnSpc>
            </a:pPr>
            <a:r>
              <a:rPr lang="en-US" sz="1576" b="true">
                <a:solidFill>
                  <a:srgbClr val="3D3E44"/>
                </a:solidFill>
                <a:latin typeface="Inter Bold"/>
                <a:ea typeface="Inter Bold"/>
                <a:cs typeface="Inter Bold"/>
                <a:sym typeface="Inter Bold"/>
              </a:rPr>
              <a:t>The KOHLER Enterprise Intelligence Agent runs every query through a 10-step governed loop</a:t>
            </a:r>
            <a:r>
              <a:rPr lang="en-US" sz="1576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, splitting work between deterministic code and the LLM: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991" y="2194865"/>
            <a:ext cx="16315868" cy="3428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5480" indent="-142740" lvl="1">
              <a:lnSpc>
                <a:spcPts val="2194"/>
              </a:lnSpc>
              <a:buAutoNum type="arabicPeriod" startAt="1"/>
            </a:pPr>
            <a:r>
              <a:rPr lang="en-US" b="true" sz="1576">
                <a:solidFill>
                  <a:srgbClr val="3D3E44"/>
                </a:solidFill>
                <a:latin typeface="Inter Bold"/>
                <a:ea typeface="Inter Bold"/>
                <a:cs typeface="Inter Bold"/>
                <a:sym typeface="Inter Bold"/>
              </a:rPr>
              <a:t>Detect intent &amp; format</a:t>
            </a:r>
            <a:r>
              <a:rPr lang="en-US" sz="1576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 – classify what's being asked and what output is needed (chat, JSON, Excel, email)</a:t>
            </a:r>
          </a:p>
          <a:p>
            <a:pPr algn="l" marL="285480" indent="-142740" lvl="1">
              <a:lnSpc>
                <a:spcPts val="2194"/>
              </a:lnSpc>
              <a:buAutoNum type="arabicPeriod" startAt="1"/>
            </a:pPr>
            <a:r>
              <a:rPr lang="en-US" b="true" sz="1576">
                <a:solidFill>
                  <a:srgbClr val="3D3E44"/>
                </a:solidFill>
                <a:latin typeface="Inter Bold"/>
                <a:ea typeface="Inter Bold"/>
                <a:cs typeface="Inter Bold"/>
                <a:sym typeface="Inter Bold"/>
              </a:rPr>
              <a:t>Route domain</a:t>
            </a:r>
            <a:r>
              <a:rPr lang="en-US" sz="1576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 – map the query to HR / Finance / Support / Privacy / Legal</a:t>
            </a:r>
          </a:p>
          <a:p>
            <a:pPr algn="l" marL="285480" indent="-142740" lvl="1">
              <a:lnSpc>
                <a:spcPts val="2194"/>
              </a:lnSpc>
              <a:buAutoNum type="arabicPeriod" startAt="1"/>
            </a:pPr>
            <a:r>
              <a:rPr lang="en-US" b="true" sz="1576">
                <a:solidFill>
                  <a:srgbClr val="3D3E44"/>
                </a:solidFill>
                <a:latin typeface="Inter Bold"/>
                <a:ea typeface="Inter Bold"/>
                <a:cs typeface="Inter Bold"/>
                <a:sym typeface="Inter Bold"/>
              </a:rPr>
              <a:t>RBAC pre-filter</a:t>
            </a:r>
            <a:r>
              <a:rPr lang="en-US" sz="1576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576" i="true">
                <a:solidFill>
                  <a:srgbClr val="3D3E44"/>
                </a:solidFill>
                <a:latin typeface="Inter Light Italics"/>
                <a:ea typeface="Inter Light Italics"/>
                <a:cs typeface="Inter Light Italics"/>
                <a:sym typeface="Inter Light Italics"/>
              </a:rPr>
              <a:t>(deterministic)</a:t>
            </a:r>
            <a:r>
              <a:rPr lang="en-US" sz="1576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 – drop any policy chunk the user's role isn't cleared for, </a:t>
            </a:r>
            <a:r>
              <a:rPr lang="en-US" sz="1576" i="true">
                <a:solidFill>
                  <a:srgbClr val="3D3E44"/>
                </a:solidFill>
                <a:latin typeface="Inter Light Italics"/>
                <a:ea typeface="Inter Light Italics"/>
                <a:cs typeface="Inter Light Italics"/>
                <a:sym typeface="Inter Light Italics"/>
              </a:rPr>
              <a:t>before</a:t>
            </a:r>
            <a:r>
              <a:rPr lang="en-US" sz="1576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 it ever reaches a prompt</a:t>
            </a:r>
          </a:p>
          <a:p>
            <a:pPr algn="l" marL="285480" indent="-142740" lvl="1">
              <a:lnSpc>
                <a:spcPts val="2194"/>
              </a:lnSpc>
              <a:buAutoNum type="arabicPeriod" startAt="1"/>
            </a:pPr>
            <a:r>
              <a:rPr lang="en-US" b="true" sz="1576">
                <a:solidFill>
                  <a:srgbClr val="3D3E44"/>
                </a:solidFill>
                <a:latin typeface="Inter Bold"/>
                <a:ea typeface="Inter Bold"/>
                <a:cs typeface="Inter Bold"/>
                <a:sym typeface="Inter Bold"/>
              </a:rPr>
              <a:t>Hybrid retrieval</a:t>
            </a:r>
            <a:r>
              <a:rPr lang="en-US" sz="1576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 – pull the most relevant, temporally-active policy chunks (token-overlap + recency scoring)</a:t>
            </a:r>
          </a:p>
          <a:p>
            <a:pPr algn="l" marL="285480" indent="-142740" lvl="1">
              <a:lnSpc>
                <a:spcPts val="2194"/>
              </a:lnSpc>
              <a:buAutoNum type="arabicPeriod" startAt="1"/>
            </a:pPr>
            <a:r>
              <a:rPr lang="en-US" b="true" sz="1576">
                <a:solidFill>
                  <a:srgbClr val="3D3E44"/>
                </a:solidFill>
                <a:latin typeface="Inter Bold"/>
                <a:ea typeface="Inter Bold"/>
                <a:cs typeface="Inter Bold"/>
                <a:sym typeface="Inter Bold"/>
              </a:rPr>
              <a:t>Tool execution</a:t>
            </a:r>
            <a:r>
              <a:rPr lang="en-US" sz="1576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576" i="true">
                <a:solidFill>
                  <a:srgbClr val="3D3E44"/>
                </a:solidFill>
                <a:latin typeface="Inter Light Italics"/>
                <a:ea typeface="Inter Light Italics"/>
                <a:cs typeface="Inter Light Italics"/>
                <a:sym typeface="Inter Light Italics"/>
              </a:rPr>
              <a:t>(deterministic)</a:t>
            </a:r>
            <a:r>
              <a:rPr lang="en-US" sz="1576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 – run any needed lookups (employee directory, expense audit, Excel builder)</a:t>
            </a:r>
          </a:p>
          <a:p>
            <a:pPr algn="l" marL="285480" indent="-142740" lvl="1">
              <a:lnSpc>
                <a:spcPts val="2194"/>
              </a:lnSpc>
              <a:buAutoNum type="arabicPeriod" startAt="1"/>
            </a:pPr>
            <a:r>
              <a:rPr lang="en-US" b="true" sz="1576">
                <a:solidFill>
                  <a:srgbClr val="3D3E44"/>
                </a:solidFill>
                <a:latin typeface="Inter Bold"/>
                <a:ea typeface="Inter Bold"/>
                <a:cs typeface="Inter Bold"/>
                <a:sym typeface="Inter Bold"/>
              </a:rPr>
              <a:t>Conflict check</a:t>
            </a:r>
            <a:r>
              <a:rPr lang="en-US" sz="1576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576" i="true">
                <a:solidFill>
                  <a:srgbClr val="3D3E44"/>
                </a:solidFill>
                <a:latin typeface="Inter Light Italics"/>
                <a:ea typeface="Inter Light Italics"/>
                <a:cs typeface="Inter Light Italics"/>
                <a:sym typeface="Inter Light Italics"/>
              </a:rPr>
              <a:t>(deterministic)</a:t>
            </a:r>
            <a:r>
              <a:rPr lang="en-US" sz="1576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 – detect if the query touches a superseded policy version and resolve to the active one</a:t>
            </a:r>
          </a:p>
          <a:p>
            <a:pPr algn="l" marL="285480" indent="-142740" lvl="1">
              <a:lnSpc>
                <a:spcPts val="2194"/>
              </a:lnSpc>
              <a:buAutoNum type="arabicPeriod" startAt="1"/>
            </a:pPr>
            <a:r>
              <a:rPr lang="en-US" b="true" sz="1576">
                <a:solidFill>
                  <a:srgbClr val="3D3E44"/>
                </a:solidFill>
                <a:latin typeface="Inter Bold"/>
                <a:ea typeface="Inter Bold"/>
                <a:cs typeface="Inter Bold"/>
                <a:sym typeface="Inter Bold"/>
              </a:rPr>
              <a:t>Synthesize answer</a:t>
            </a:r>
            <a:r>
              <a:rPr lang="en-US" sz="1576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 – LLM writes the grounded response, citing only retrieved chunks</a:t>
            </a:r>
          </a:p>
          <a:p>
            <a:pPr algn="l" marL="285480" indent="-142740" lvl="1">
              <a:lnSpc>
                <a:spcPts val="2194"/>
              </a:lnSpc>
              <a:buAutoNum type="arabicPeriod" startAt="1"/>
            </a:pPr>
            <a:r>
              <a:rPr lang="en-US" b="true" sz="1576">
                <a:solidFill>
                  <a:srgbClr val="3D3E44"/>
                </a:solidFill>
                <a:latin typeface="Inter Bold"/>
                <a:ea typeface="Inter Bold"/>
                <a:cs typeface="Inter Bold"/>
                <a:sym typeface="Inter Bold"/>
              </a:rPr>
              <a:t>Verify &amp; score confidence</a:t>
            </a:r>
            <a:r>
              <a:rPr lang="en-US" sz="1576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576" i="true">
                <a:solidFill>
                  <a:srgbClr val="3D3E44"/>
                </a:solidFill>
                <a:latin typeface="Inter Light Italics"/>
                <a:ea typeface="Inter Light Italics"/>
                <a:cs typeface="Inter Light Italics"/>
                <a:sym typeface="Inter Light Italics"/>
              </a:rPr>
              <a:t>(deterministic)</a:t>
            </a:r>
            <a:r>
              <a:rPr lang="en-US" sz="1576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 – check that every number in the answer actually exists in the source text; compute a weighted confidence score</a:t>
            </a:r>
          </a:p>
          <a:p>
            <a:pPr algn="l" marL="285480" indent="-142740" lvl="1">
              <a:lnSpc>
                <a:spcPts val="2194"/>
              </a:lnSpc>
              <a:buAutoNum type="arabicPeriod" startAt="1"/>
            </a:pPr>
            <a:r>
              <a:rPr lang="en-US" b="true" sz="1576">
                <a:solidFill>
                  <a:srgbClr val="3D3E44"/>
                </a:solidFill>
                <a:latin typeface="Inter Bold"/>
                <a:ea typeface="Inter Bold"/>
                <a:cs typeface="Inter Bold"/>
                <a:sym typeface="Inter Bold"/>
              </a:rPr>
              <a:t>HITL gate</a:t>
            </a:r>
            <a:r>
              <a:rPr lang="en-US" sz="1576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576" i="true">
                <a:solidFill>
                  <a:srgbClr val="3D3E44"/>
                </a:solidFill>
                <a:latin typeface="Inter Light Italics"/>
                <a:ea typeface="Inter Light Italics"/>
                <a:cs typeface="Inter Light Italics"/>
                <a:sym typeface="Inter Light Italics"/>
              </a:rPr>
              <a:t>(deterministic)</a:t>
            </a:r>
            <a:r>
              <a:rPr lang="en-US" sz="1576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 – if the action is high-risk (e.g. outbound email), pause for human approval</a:t>
            </a:r>
          </a:p>
          <a:p>
            <a:pPr algn="l" marL="285480" indent="-142740" lvl="1">
              <a:lnSpc>
                <a:spcPts val="2194"/>
              </a:lnSpc>
              <a:buAutoNum type="arabicPeriod" startAt="1"/>
            </a:pPr>
            <a:r>
              <a:rPr lang="en-US" b="true" sz="1576">
                <a:solidFill>
                  <a:srgbClr val="3D3E44"/>
                </a:solidFill>
                <a:latin typeface="Inter Bold"/>
                <a:ea typeface="Inter Bold"/>
                <a:cs typeface="Inter Bold"/>
                <a:sym typeface="Inter Bold"/>
              </a:rPr>
              <a:t>Audit log</a:t>
            </a:r>
            <a:r>
              <a:rPr lang="en-US" sz="1576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576" i="true">
                <a:solidFill>
                  <a:srgbClr val="3D3E44"/>
                </a:solidFill>
                <a:latin typeface="Inter Light Italics"/>
                <a:ea typeface="Inter Light Italics"/>
                <a:cs typeface="Inter Light Italics"/>
                <a:sym typeface="Inter Light Italics"/>
              </a:rPr>
              <a:t>(deterministic)</a:t>
            </a:r>
            <a:r>
              <a:rPr lang="en-US" sz="1576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 – record the query, decision, and latency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991" y="5768788"/>
            <a:ext cx="17230954" cy="319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4"/>
              </a:lnSpc>
            </a:pPr>
            <a:r>
              <a:rPr lang="en-US" sz="1576" b="true">
                <a:solidFill>
                  <a:srgbClr val="3D3E44"/>
                </a:solidFill>
                <a:latin typeface="Inter Bold"/>
                <a:ea typeface="Inter Bold"/>
                <a:cs typeface="Inter Bold"/>
                <a:sym typeface="Inter Bold"/>
              </a:rPr>
              <a:t>The one-line version:</a:t>
            </a:r>
            <a:r>
              <a:rPr lang="en-US" sz="1576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 deterministic code guards security, dates, numbers, and approvals — the LLM only ever reasons over text it's already been cleared to see.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3032436" y="6262668"/>
            <a:ext cx="12236825" cy="3238052"/>
            <a:chOff x="0" y="0"/>
            <a:chExt cx="16315766" cy="4317403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16315817" cy="4317365"/>
            </a:xfrm>
            <a:custGeom>
              <a:avLst/>
              <a:gdLst/>
              <a:ahLst/>
              <a:cxnLst/>
              <a:rect r="r" b="b" t="t" l="l"/>
              <a:pathLst>
                <a:path h="4317365" w="16315817">
                  <a:moveTo>
                    <a:pt x="0" y="0"/>
                  </a:moveTo>
                  <a:lnTo>
                    <a:pt x="16315817" y="0"/>
                  </a:lnTo>
                  <a:lnTo>
                    <a:pt x="16315817" y="4317365"/>
                  </a:lnTo>
                  <a:lnTo>
                    <a:pt x="0" y="4317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4" r="0" b="-35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3976287" y="7347995"/>
            <a:ext cx="1849736" cy="340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9"/>
              </a:lnSpc>
            </a:pPr>
            <a:r>
              <a:rPr lang="en-US" sz="2026" b="true">
                <a:solidFill>
                  <a:srgbClr val="7476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Detect Intent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976287" y="7782935"/>
            <a:ext cx="1849736" cy="460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3"/>
              </a:lnSpc>
            </a:pPr>
            <a:r>
              <a:rPr lang="en-US" sz="1651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Classify request and desired output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095943" y="6948888"/>
            <a:ext cx="1849736" cy="671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9"/>
              </a:lnSpc>
            </a:pPr>
            <a:r>
              <a:rPr lang="en-US" sz="2026" b="true">
                <a:solidFill>
                  <a:srgbClr val="7476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Route Domain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095943" y="7715031"/>
            <a:ext cx="1849736" cy="690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3"/>
              </a:lnSpc>
            </a:pPr>
            <a:r>
              <a:rPr lang="en-US" sz="1651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Map query to HR, Finance, Support, Privacy, Legal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215598" y="7347995"/>
            <a:ext cx="1849736" cy="671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9"/>
              </a:lnSpc>
            </a:pPr>
            <a:r>
              <a:rPr lang="en-US" sz="2026" b="true">
                <a:solidFill>
                  <a:srgbClr val="7476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RBAC Pre-filter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215598" y="8114138"/>
            <a:ext cx="1849736" cy="690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3"/>
              </a:lnSpc>
            </a:pPr>
            <a:r>
              <a:rPr lang="en-US" sz="1651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Drop policy chunks user can't access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335254" y="6948888"/>
            <a:ext cx="1849736" cy="671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9"/>
              </a:lnSpc>
            </a:pPr>
            <a:r>
              <a:rPr lang="en-US" sz="2026" b="true">
                <a:solidFill>
                  <a:srgbClr val="7476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Hybrid Retrieval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335254" y="7715031"/>
            <a:ext cx="1849736" cy="690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3"/>
              </a:lnSpc>
            </a:pPr>
            <a:r>
              <a:rPr lang="en-US" sz="1651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Fetch relevant, recent policy chunks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466691" y="7347995"/>
            <a:ext cx="1849736" cy="671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9"/>
              </a:lnSpc>
            </a:pPr>
            <a:r>
              <a:rPr lang="en-US" sz="2026" b="true">
                <a:solidFill>
                  <a:srgbClr val="7476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Tool Execution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466691" y="8114138"/>
            <a:ext cx="1849736" cy="460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3"/>
              </a:lnSpc>
            </a:pPr>
            <a:r>
              <a:rPr lang="en-US" sz="1651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Run deterministic lookups and tasks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207075" y="-536738"/>
            <a:ext cx="19463097" cy="10948262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126767" y="48870"/>
            <a:ext cx="14391324" cy="9283400"/>
            <a:chOff x="0" y="0"/>
            <a:chExt cx="16054426" cy="10356215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16054451" cy="10356215"/>
            </a:xfrm>
            <a:custGeom>
              <a:avLst/>
              <a:gdLst/>
              <a:ahLst/>
              <a:cxnLst/>
              <a:rect r="r" b="b" t="t" l="l"/>
              <a:pathLst>
                <a:path h="10356215" w="16054451">
                  <a:moveTo>
                    <a:pt x="0" y="0"/>
                  </a:moveTo>
                  <a:lnTo>
                    <a:pt x="16054451" y="0"/>
                  </a:lnTo>
                  <a:lnTo>
                    <a:pt x="16054451" y="10356215"/>
                  </a:lnTo>
                  <a:lnTo>
                    <a:pt x="0" y="103562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2" t="0" r="-22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86066" y="9213575"/>
            <a:ext cx="16315868" cy="664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58"/>
              </a:lnSpc>
            </a:pPr>
            <a:r>
              <a:rPr lang="en-US" sz="4053" b="true">
                <a:solidFill>
                  <a:srgbClr val="7476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System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225867" y="-334344"/>
            <a:ext cx="18875827" cy="10808789"/>
            <a:chOff x="0" y="0"/>
            <a:chExt cx="23971527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971489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3971489">
                  <a:moveTo>
                    <a:pt x="0" y="0"/>
                  </a:moveTo>
                  <a:lnTo>
                    <a:pt x="23971489" y="0"/>
                  </a:lnTo>
                  <a:lnTo>
                    <a:pt x="23971489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806701"/>
            <a:ext cx="16315868" cy="817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2"/>
              </a:lnSpc>
            </a:pPr>
            <a:r>
              <a:rPr lang="en-US" sz="4953" b="true">
                <a:solidFill>
                  <a:srgbClr val="7476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Six-tier access control, evaluated before retrieval </a:t>
            </a:r>
          </a:p>
        </p:txBody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977880" y="1742105"/>
          <a:ext cx="16281420" cy="6883266"/>
        </p:xfrm>
        <a:graphic>
          <a:graphicData uri="http://schemas.openxmlformats.org/drawingml/2006/table">
            <a:tbl>
              <a:tblPr/>
              <a:tblGrid>
                <a:gridCol w="4068741"/>
                <a:gridCol w="3497718"/>
                <a:gridCol w="4357480"/>
                <a:gridCol w="4357480"/>
              </a:tblGrid>
              <a:tr h="77330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3D3E44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Role</a:t>
                      </a:r>
                      <a:endParaRPr lang="en-US" sz="1100"/>
                    </a:p>
                  </a:txBody>
                  <a:tcPr marL="170117" marR="170117" marT="170117" marB="170117" anchor="ctr">
                    <a:lnL cmpd="sng" algn="ctr" cap="flat" w="1905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3D3E44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Access Tier</a:t>
                      </a:r>
                      <a:endParaRPr lang="en-US" sz="1100"/>
                    </a:p>
                  </a:txBody>
                  <a:tcPr marL="170117" marR="170117" marT="170117" marB="170117" anchor="ctr">
                    <a:lnL cmpd="sng" algn="ctr" cap="flat" w="1905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3D3E44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Accessible</a:t>
                      </a:r>
                      <a:endParaRPr lang="en-US" sz="1100"/>
                    </a:p>
                  </a:txBody>
                  <a:tcPr marL="170117" marR="170117" marT="170117" marB="170117" anchor="ctr">
                    <a:lnL cmpd="sng" algn="ctr" cap="flat" w="1905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3D3E44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Restricted</a:t>
                      </a:r>
                      <a:endParaRPr lang="en-US" sz="1100"/>
                    </a:p>
                  </a:txBody>
                  <a:tcPr marL="170117" marR="170117" marT="170117" marB="170117" anchor="ctr">
                    <a:lnL cmpd="sng" algn="ctr" cap="flat" w="1905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69266"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341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951" strike="noStrike" u="none">
                          <a:solidFill>
                            <a:srgbClr val="3D3E4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EMPLOYEE</a:t>
                      </a:r>
                      <a:endParaRPr lang="en-US" sz="1100"/>
                    </a:p>
                  </a:txBody>
                  <a:tcPr marL="170117" marR="170117" marT="170117" marB="170117" anchor="ctr">
                    <a:lnL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3D3E4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Standard Associate</a:t>
                      </a:r>
                      <a:endParaRPr lang="en-US" sz="1100"/>
                    </a:p>
                  </a:txBody>
                  <a:tcPr marL="170117" marR="170117" marT="170117" marB="170117" anchor="ctr">
                    <a:lnL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3D3E4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Standard HR, travel, warranty terms</a:t>
                      </a:r>
                      <a:endParaRPr lang="en-US" sz="1100"/>
                    </a:p>
                  </a:txBody>
                  <a:tcPr marL="170117" marR="170117" marT="170117" marB="170117" anchor="ctr">
                    <a:lnL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3D3E4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Executive severance, entertainment caps, legal logs</a:t>
                      </a:r>
                      <a:endParaRPr lang="en-US" sz="1100"/>
                    </a:p>
                  </a:txBody>
                  <a:tcPr marL="170117" marR="170117" marT="170117" marB="170117" anchor="ctr">
                    <a:lnL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6926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3D3E4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MANAGER</a:t>
                      </a:r>
                      <a:endParaRPr lang="en-US" sz="1100"/>
                    </a:p>
                  </a:txBody>
                  <a:tcPr marL="170117" marR="170117" marT="170117" marB="170117" anchor="ctr">
                    <a:lnL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3D3E4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Dept. Manager</a:t>
                      </a:r>
                      <a:endParaRPr lang="en-US" sz="1100"/>
                    </a:p>
                  </a:txBody>
                  <a:tcPr marL="170117" marR="170117" marT="170117" marB="170117" anchor="ctr">
                    <a:lnL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3D3E4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+ team approval thresholds, budgets</a:t>
                      </a:r>
                      <a:endParaRPr lang="en-US" sz="1100"/>
                    </a:p>
                  </a:txBody>
                  <a:tcPr marL="170117" marR="170117" marT="170117" marB="170117" anchor="ctr">
                    <a:lnL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3D3E4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Executive compensation, CPO assessments</a:t>
                      </a:r>
                      <a:endParaRPr lang="en-US" sz="1100"/>
                    </a:p>
                  </a:txBody>
                  <a:tcPr marL="170117" marR="170117" marT="170117" marB="170117" anchor="ctr">
                    <a:lnL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6926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3D3E4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HR</a:t>
                      </a:r>
                      <a:endParaRPr lang="en-US" sz="1100"/>
                    </a:p>
                  </a:txBody>
                  <a:tcPr marL="170117" marR="170117" marT="170117" marB="170117" anchor="ctr">
                    <a:lnL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3D3E4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HR Specialist</a:t>
                      </a:r>
                      <a:endParaRPr lang="en-US" sz="1100"/>
                    </a:p>
                  </a:txBody>
                  <a:tcPr marL="170117" marR="170117" marT="170117" marB="170117" anchor="ctr">
                    <a:lnL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3D3E4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Full HR repository, severance formulas</a:t>
                      </a:r>
                      <a:endParaRPr lang="en-US" sz="1100"/>
                    </a:p>
                  </a:txBody>
                  <a:tcPr marL="170117" marR="170117" marT="170117" marB="170117" anchor="ctr">
                    <a:lnL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3D3E4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Finance exception caps, legal records</a:t>
                      </a:r>
                      <a:endParaRPr lang="en-US" sz="1100"/>
                    </a:p>
                  </a:txBody>
                  <a:tcPr marL="170117" marR="170117" marT="170117" marB="170117" anchor="ctr">
                    <a:lnL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6926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3D3E4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FINANCE</a:t>
                      </a:r>
                      <a:endParaRPr lang="en-US" sz="1100"/>
                    </a:p>
                  </a:txBody>
                  <a:tcPr marL="170117" marR="170117" marT="170117" marB="170117" anchor="ctr">
                    <a:lnL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3D3E4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Finance Auditor</a:t>
                      </a:r>
                      <a:endParaRPr lang="en-US" sz="1100"/>
                    </a:p>
                  </a:txBody>
                  <a:tcPr marL="170117" marR="170117" marT="170117" marB="170117" anchor="ctr">
                    <a:lnL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3D3E4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Full travel/procurement, entertainment caps</a:t>
                      </a:r>
                      <a:endParaRPr lang="en-US" sz="1100"/>
                    </a:p>
                  </a:txBody>
                  <a:tcPr marL="170117" marR="170117" marT="170117" marB="170117" anchor="ctr">
                    <a:lnL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3D3E4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HR health records, litigation files</a:t>
                      </a:r>
                      <a:endParaRPr lang="en-US" sz="1100"/>
                    </a:p>
                  </a:txBody>
                  <a:tcPr marL="170117" marR="170117" marT="170117" marB="170117" anchor="ctr">
                    <a:lnL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958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3D3E4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LEGAL</a:t>
                      </a:r>
                      <a:endParaRPr lang="en-US" sz="1100"/>
                    </a:p>
                  </a:txBody>
                  <a:tcPr marL="170117" marR="170117" marT="170117" marB="170117" anchor="ctr">
                    <a:lnL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3D3E4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Legal &amp; Compliance</a:t>
                      </a:r>
                      <a:endParaRPr lang="en-US" sz="1100"/>
                    </a:p>
                  </a:txBody>
                  <a:tcPr marL="170117" marR="170117" marT="170117" marB="170117" anchor="ctr">
                    <a:lnL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3D3E4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DPAs, whistleblower hotlines, risk</a:t>
                      </a:r>
                      <a:endParaRPr lang="en-US" sz="1100"/>
                    </a:p>
                  </a:txBody>
                  <a:tcPr marL="170117" marR="170117" marT="170117" marB="170117" anchor="ctr">
                    <a:lnL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3D3E4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Unmasked compensation matrices</a:t>
                      </a:r>
                      <a:endParaRPr lang="en-US" sz="1100"/>
                    </a:p>
                  </a:txBody>
                  <a:tcPr marL="170117" marR="170117" marT="170117" marB="170117" anchor="ctr">
                    <a:lnL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330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3D3E4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ADMIN</a:t>
                      </a:r>
                      <a:endParaRPr lang="en-US" sz="1100"/>
                    </a:p>
                  </a:txBody>
                  <a:tcPr marL="170117" marR="170117" marT="170117" marB="170117" anchor="ctr">
                    <a:lnL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3D3E4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Enterprise Superuser</a:t>
                      </a:r>
                      <a:endParaRPr lang="en-US" sz="1100"/>
                    </a:p>
                  </a:txBody>
                  <a:tcPr marL="170117" marR="170117" marT="170117" marB="170117" anchor="ctr">
                    <a:lnL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3D3E4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Full access — all 5 domains</a:t>
                      </a:r>
                      <a:endParaRPr lang="en-US" sz="1100"/>
                    </a:p>
                  </a:txBody>
                  <a:tcPr marL="170117" marR="170117" marT="170117" marB="170117" anchor="ctr">
                    <a:lnL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3D3E4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None</a:t>
                      </a:r>
                      <a:endParaRPr lang="en-US" sz="1100"/>
                    </a:p>
                  </a:txBody>
                  <a:tcPr marL="170117" marR="170117" marT="170117" marB="170117" anchor="ctr">
                    <a:lnL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977880" y="8997548"/>
            <a:ext cx="17230954" cy="454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1951" b="true">
                <a:solidFill>
                  <a:srgbClr val="3D3E44"/>
                </a:solidFill>
                <a:latin typeface="Inter Bold"/>
                <a:ea typeface="Inter Bold"/>
                <a:cs typeface="Inter Bold"/>
                <a:sym typeface="Inter Bold"/>
              </a:rPr>
              <a:t>FUNCTIONALITY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283061" y="0"/>
            <a:ext cx="18584901" cy="10454265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842743"/>
            <a:ext cx="16315868" cy="817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2"/>
              </a:lnSpc>
            </a:pPr>
            <a:r>
              <a:rPr lang="en-US" sz="4953" b="true">
                <a:solidFill>
                  <a:srgbClr val="7476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INNOVATION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991" y="2052809"/>
            <a:ext cx="16315868" cy="387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151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The system is a </a:t>
            </a:r>
            <a:r>
              <a:rPr lang="en-US" sz="2151" b="true">
                <a:solidFill>
                  <a:srgbClr val="3D3E44"/>
                </a:solidFill>
                <a:latin typeface="Inter Bold"/>
                <a:ea typeface="Inter Bold"/>
                <a:cs typeface="Inter Bold"/>
                <a:sym typeface="Inter Bold"/>
              </a:rPr>
              <a:t>hybrid neuro-symbolic agent</a:t>
            </a:r>
            <a:r>
              <a:rPr lang="en-US" sz="2151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 (often called an </a:t>
            </a:r>
            <a:r>
              <a:rPr lang="en-US" sz="2151" b="true">
                <a:solidFill>
                  <a:srgbClr val="3D3E44"/>
                </a:solidFill>
                <a:latin typeface="Inter Bold"/>
                <a:ea typeface="Inter Bold"/>
                <a:cs typeface="Inter Bold"/>
                <a:sym typeface="Inter Bold"/>
              </a:rPr>
              <a:t>Agentic RAG system with a deterministic governance layer</a:t>
            </a:r>
            <a:r>
              <a:rPr lang="en-US" sz="2151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).</a:t>
            </a:r>
          </a:p>
        </p:txBody>
      </p: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992991" y="2689489"/>
          <a:ext cx="16243290" cy="4937808"/>
        </p:xfrm>
        <a:graphic>
          <a:graphicData uri="http://schemas.openxmlformats.org/drawingml/2006/table">
            <a:tbl>
              <a:tblPr/>
              <a:tblGrid>
                <a:gridCol w="4060823"/>
                <a:gridCol w="4060823"/>
                <a:gridCol w="4060823"/>
                <a:gridCol w="4060823"/>
              </a:tblGrid>
              <a:tr h="69024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3D3E44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Capability</a:t>
                      </a:r>
                      <a:endParaRPr lang="en-US" sz="1100"/>
                    </a:p>
                  </a:txBody>
                  <a:tcPr marL="170117" marR="170117" marT="170117" marB="170117" anchor="ctr">
                    <a:lnL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3D3E44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Pure LLM / Naive RAG</a:t>
                      </a:r>
                      <a:endParaRPr lang="en-US" sz="1100"/>
                    </a:p>
                  </a:txBody>
                  <a:tcPr marL="170117" marR="170117" marT="170117" marB="170117" anchor="ctr">
                    <a:lnL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3D3E44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Pure Expert System</a:t>
                      </a:r>
                      <a:endParaRPr lang="en-US" sz="1100"/>
                    </a:p>
                  </a:txBody>
                  <a:tcPr marL="170117" marR="170117" marT="170117" marB="170117" anchor="ctr">
                    <a:lnL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3D3E44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This Hybrid Agent</a:t>
                      </a:r>
                      <a:endParaRPr lang="en-US" sz="1100"/>
                    </a:p>
                  </a:txBody>
                  <a:tcPr marL="170117" marR="170117" marT="170117" marB="170117" anchor="ctr">
                    <a:lnL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6189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3D3E4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Facts &amp; grounding</a:t>
                      </a:r>
                      <a:endParaRPr lang="en-US" sz="1100"/>
                    </a:p>
                  </a:txBody>
                  <a:tcPr marL="170117" marR="170117" marT="170117" marB="170117" anchor="ctr">
                    <a:lnL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3D3E4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Model weights — high hallucination risk</a:t>
                      </a:r>
                      <a:endParaRPr lang="en-US" sz="1100"/>
                    </a:p>
                  </a:txBody>
                  <a:tcPr marL="170117" marR="170117" marT="170117" marB="170117" anchor="ctr">
                    <a:lnL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3D3E4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Hardcoded rules — brittle, rigid</a:t>
                      </a:r>
                      <a:endParaRPr lang="en-US" sz="1100"/>
                    </a:p>
                  </a:txBody>
                  <a:tcPr marL="170117" marR="170117" marT="170117" marB="170117" anchor="ctr">
                    <a:lnL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3D3E44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RAG: retrieved from authoritative chunks</a:t>
                      </a:r>
                      <a:endParaRPr lang="en-US" sz="1100"/>
                    </a:p>
                  </a:txBody>
                  <a:tcPr marL="170117" marR="170117" marT="170117" marB="170117" anchor="ctr">
                    <a:lnL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6189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3D3E4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Access control (RBAC)</a:t>
                      </a:r>
                      <a:endParaRPr lang="en-US" sz="1100"/>
                    </a:p>
                  </a:txBody>
                  <a:tcPr marL="170117" marR="170117" marT="170117" marB="170117" anchor="ctr">
                    <a:lnL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3D3E4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Prompt instructions only</a:t>
                      </a:r>
                      <a:endParaRPr lang="en-US" sz="1100"/>
                    </a:p>
                  </a:txBody>
                  <a:tcPr marL="170117" marR="170117" marT="170117" marB="170117" anchor="ctr">
                    <a:lnL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3D3E4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Deterministic permission matrix</a:t>
                      </a:r>
                      <a:endParaRPr lang="en-US" sz="1100"/>
                    </a:p>
                  </a:txBody>
                  <a:tcPr marL="170117" marR="170117" marT="170117" marB="170117" anchor="ctr">
                    <a:lnL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3D3E44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Deterministic — evaluated before retrieval</a:t>
                      </a:r>
                      <a:endParaRPr lang="en-US" sz="1100"/>
                    </a:p>
                  </a:txBody>
                  <a:tcPr marL="170117" marR="170117" marT="170117" marB="170117" anchor="ctr">
                    <a:lnL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6189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3D3E4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Supersession / conflicts</a:t>
                      </a:r>
                      <a:endParaRPr lang="en-US" sz="1100"/>
                    </a:p>
                  </a:txBody>
                  <a:tcPr marL="170117" marR="170117" marT="170117" marB="170117" anchor="ctr">
                    <a:lnL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3D3E4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May blend 2024 and 2026 numbers</a:t>
                      </a:r>
                      <a:endParaRPr lang="en-US" sz="1100"/>
                    </a:p>
                  </a:txBody>
                  <a:tcPr marL="170117" marR="170117" marT="170117" marB="170117" anchor="ctr">
                    <a:lnL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3D3E4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Explicit version graph</a:t>
                      </a:r>
                      <a:endParaRPr lang="en-US" sz="1100"/>
                    </a:p>
                  </a:txBody>
                  <a:tcPr marL="170117" marR="170117" marT="170117" marB="170117" anchor="ctr">
                    <a:lnL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3D3E44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Deterministic metadata graph</a:t>
                      </a:r>
                      <a:endParaRPr lang="en-US" sz="1100"/>
                    </a:p>
                  </a:txBody>
                  <a:tcPr marL="170117" marR="170117" marT="170117" marB="170117" anchor="ctr">
                    <a:lnL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6189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3D3E4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Language &amp; synthesis</a:t>
                      </a:r>
                      <a:endParaRPr lang="en-US" sz="1100"/>
                    </a:p>
                  </a:txBody>
                  <a:tcPr marL="170117" marR="170117" marT="170117" marB="170117" anchor="ctr">
                    <a:lnL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3D3E4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Fluent, creative, flexible</a:t>
                      </a:r>
                      <a:endParaRPr lang="en-US" sz="1100"/>
                    </a:p>
                  </a:txBody>
                  <a:tcPr marL="170117" marR="170117" marT="170117" marB="170117" anchor="ctr">
                    <a:lnL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3D3E4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Cannot handle unscripted language</a:t>
                      </a:r>
                      <a:endParaRPr lang="en-US" sz="1100"/>
                    </a:p>
                  </a:txBody>
                  <a:tcPr marL="170117" marR="170117" marT="170117" marB="170117" anchor="ctr">
                    <a:lnL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3D3E44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LLM: cross-domain synthesis and drafts</a:t>
                      </a:r>
                      <a:endParaRPr lang="en-US" sz="1100"/>
                    </a:p>
                  </a:txBody>
                  <a:tcPr marL="170117" marR="170117" marT="170117" marB="170117" anchor="ctr">
                    <a:lnL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992991" y="8590274"/>
            <a:ext cx="16315868" cy="842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1951" i="true">
                <a:solidFill>
                  <a:srgbClr val="3D3E44"/>
                </a:solidFill>
                <a:latin typeface="Inter Light Italics"/>
                <a:ea typeface="Inter Light Italics"/>
                <a:cs typeface="Inter Light Italics"/>
                <a:sym typeface="Inter Light Italics"/>
              </a:rPr>
              <a:t>Deterministic code guards the enterprise perimeter (security, dates, numbers, audit). The LLM provides fluent reasoning over grounded text. Neither side does the other's job.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715778" y="0"/>
            <a:ext cx="19017618" cy="10697674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2048761"/>
            <a:ext cx="16315868" cy="924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 b="true">
                <a:solidFill>
                  <a:srgbClr val="7476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TECHNICAL MOAT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991" y="3464804"/>
            <a:ext cx="16315868" cy="984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Rather than presenting an ungrounded LLM probability percentage, the system computes an observable composite score: </a:t>
            </a:r>
            <a:r>
              <a:rPr lang="en-US" sz="2176" i="true">
                <a:solidFill>
                  <a:srgbClr val="3D3E44"/>
                </a:solidFill>
                <a:latin typeface="Inter Light Italics"/>
                <a:ea typeface="Inter Light Italics"/>
                <a:cs typeface="Inter Light Italics"/>
                <a:sym typeface="Inter Light Italics"/>
              </a:rPr>
              <a:t>                             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991" y="4052183"/>
            <a:ext cx="7715726" cy="370723"/>
            <a:chOff x="0" y="0"/>
            <a:chExt cx="10287635" cy="494297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0287635" cy="494284"/>
            </a:xfrm>
            <a:custGeom>
              <a:avLst/>
              <a:gdLst/>
              <a:ahLst/>
              <a:cxnLst/>
              <a:rect r="r" b="b" t="t" l="l"/>
              <a:pathLst>
                <a:path h="494284" w="10287635">
                  <a:moveTo>
                    <a:pt x="0" y="0"/>
                  </a:moveTo>
                  <a:lnTo>
                    <a:pt x="10287635" y="0"/>
                  </a:lnTo>
                  <a:lnTo>
                    <a:pt x="10287635" y="494284"/>
                  </a:lnTo>
                  <a:lnTo>
                    <a:pt x="0" y="4942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05" r="0" b="-105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991" y="4691958"/>
            <a:ext cx="17230954" cy="530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4236" indent="-197118" lvl="1">
              <a:lnSpc>
                <a:spcPts val="3474"/>
              </a:lnSpc>
              <a:buFont typeface="Arial"/>
              <a:buChar char="•"/>
            </a:pPr>
            <a:r>
              <a:rPr lang="en-US" sz="2176" i="true">
                <a:solidFill>
                  <a:srgbClr val="3D3E44"/>
                </a:solidFill>
                <a:latin typeface="Inter Light Italics"/>
                <a:ea typeface="Inter Light Italics"/>
                <a:cs typeface="Inter Light Italics"/>
                <a:sym typeface="Inter Light Italics"/>
              </a:rPr>
              <a:t> </a:t>
            </a:r>
            <a:r>
              <a:rPr lang="en-US" b="true" sz="2176">
                <a:solidFill>
                  <a:srgbClr val="3D3E44"/>
                </a:solidFill>
                <a:latin typeface="Inter Bold"/>
                <a:ea typeface="Inter Bold"/>
                <a:cs typeface="Inter Bold"/>
                <a:sym typeface="Inter Bold"/>
              </a:rPr>
              <a:t> (Retrieval Relevance)</a:t>
            </a:r>
            <a:r>
              <a:rPr lang="en-US" sz="2176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: Percentage relevance of top retrieved chunks.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446962" y="4825355"/>
            <a:ext cx="212541" cy="370723"/>
            <a:chOff x="0" y="0"/>
            <a:chExt cx="283388" cy="494297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283337" cy="494284"/>
            </a:xfrm>
            <a:custGeom>
              <a:avLst/>
              <a:gdLst/>
              <a:ahLst/>
              <a:cxnLst/>
              <a:rect r="r" b="b" t="t" l="l"/>
              <a:pathLst>
                <a:path h="494284" w="283337">
                  <a:moveTo>
                    <a:pt x="0" y="0"/>
                  </a:moveTo>
                  <a:lnTo>
                    <a:pt x="283337" y="0"/>
                  </a:lnTo>
                  <a:lnTo>
                    <a:pt x="283337" y="494284"/>
                  </a:lnTo>
                  <a:lnTo>
                    <a:pt x="0" y="4942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434" t="0" r="-1447" b="-2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92991" y="5245141"/>
            <a:ext cx="17230954" cy="530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4236" indent="-197118" lvl="1">
              <a:lnSpc>
                <a:spcPts val="3474"/>
              </a:lnSpc>
              <a:buFont typeface="Arial"/>
              <a:buChar char="•"/>
            </a:pPr>
            <a:r>
              <a:rPr lang="en-US" sz="2176" i="true">
                <a:solidFill>
                  <a:srgbClr val="3D3E44"/>
                </a:solidFill>
                <a:latin typeface="Inter Light Italics"/>
                <a:ea typeface="Inter Light Italics"/>
                <a:cs typeface="Inter Light Italics"/>
                <a:sym typeface="Inter Light Italics"/>
              </a:rPr>
              <a:t> </a:t>
            </a:r>
            <a:r>
              <a:rPr lang="en-US" b="true" sz="2176">
                <a:solidFill>
                  <a:srgbClr val="3D3E44"/>
                </a:solidFill>
                <a:latin typeface="Inter Bold"/>
                <a:ea typeface="Inter Bold"/>
                <a:cs typeface="Inter Bold"/>
                <a:sym typeface="Inter Bold"/>
              </a:rPr>
              <a:t> (Authority Level)</a:t>
            </a:r>
            <a:r>
              <a:rPr lang="en-US" sz="2176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: Document authority tier (Board = 100%, Corporate/Legal = 90%, Departmental = 75%).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446962" y="5378529"/>
            <a:ext cx="207921" cy="370723"/>
            <a:chOff x="0" y="0"/>
            <a:chExt cx="277228" cy="494297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277241" cy="494284"/>
            </a:xfrm>
            <a:custGeom>
              <a:avLst/>
              <a:gdLst/>
              <a:ahLst/>
              <a:cxnLst/>
              <a:rect r="r" b="b" t="t" l="l"/>
              <a:pathLst>
                <a:path h="494284" w="277241">
                  <a:moveTo>
                    <a:pt x="0" y="0"/>
                  </a:moveTo>
                  <a:lnTo>
                    <a:pt x="277241" y="0"/>
                  </a:lnTo>
                  <a:lnTo>
                    <a:pt x="277241" y="494284"/>
                  </a:lnTo>
                  <a:lnTo>
                    <a:pt x="0" y="4942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88" t="0" r="-284" b="-2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92991" y="5798325"/>
            <a:ext cx="17230954" cy="530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4236" indent="-197118" lvl="1">
              <a:lnSpc>
                <a:spcPts val="3474"/>
              </a:lnSpc>
              <a:buFont typeface="Arial"/>
              <a:buChar char="•"/>
            </a:pPr>
            <a:r>
              <a:rPr lang="en-US" sz="2176" i="true">
                <a:solidFill>
                  <a:srgbClr val="3D3E44"/>
                </a:solidFill>
                <a:latin typeface="Inter Light Italics"/>
                <a:ea typeface="Inter Light Italics"/>
                <a:cs typeface="Inter Light Italics"/>
                <a:sym typeface="Inter Light Italics"/>
              </a:rPr>
              <a:t> </a:t>
            </a:r>
            <a:r>
              <a:rPr lang="en-US" b="true" sz="2176">
                <a:solidFill>
                  <a:srgbClr val="3D3E44"/>
                </a:solidFill>
                <a:latin typeface="Inter Bold"/>
                <a:ea typeface="Inter Bold"/>
                <a:cs typeface="Inter Bold"/>
                <a:sym typeface="Inter Bold"/>
              </a:rPr>
              <a:t> (Temporal Validity)</a:t>
            </a:r>
            <a:r>
              <a:rPr lang="en-US" sz="2176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: Freshness relative to effective date and active status.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446962" y="5931713"/>
            <a:ext cx="200330" cy="370723"/>
            <a:chOff x="0" y="0"/>
            <a:chExt cx="267106" cy="494297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267081" cy="494284"/>
            </a:xfrm>
            <a:custGeom>
              <a:avLst/>
              <a:gdLst/>
              <a:ahLst/>
              <a:cxnLst/>
              <a:rect r="r" b="b" t="t" l="l"/>
              <a:pathLst>
                <a:path h="494284" w="267081">
                  <a:moveTo>
                    <a:pt x="0" y="0"/>
                  </a:moveTo>
                  <a:lnTo>
                    <a:pt x="267081" y="0"/>
                  </a:lnTo>
                  <a:lnTo>
                    <a:pt x="267081" y="494284"/>
                  </a:lnTo>
                  <a:lnTo>
                    <a:pt x="0" y="4942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196" t="0" r="-2201" b="-2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92991" y="6351499"/>
            <a:ext cx="17230954" cy="530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4236" indent="-197118" lvl="1">
              <a:lnSpc>
                <a:spcPts val="3474"/>
              </a:lnSpc>
              <a:buFont typeface="Arial"/>
              <a:buChar char="•"/>
            </a:pPr>
            <a:r>
              <a:rPr lang="en-US" sz="2176" i="true">
                <a:solidFill>
                  <a:srgbClr val="3D3E44"/>
                </a:solidFill>
                <a:latin typeface="Inter Light Italics"/>
                <a:ea typeface="Inter Light Italics"/>
                <a:cs typeface="Inter Light Italics"/>
                <a:sym typeface="Inter Light Italics"/>
              </a:rPr>
              <a:t> </a:t>
            </a:r>
            <a:r>
              <a:rPr lang="en-US" b="true" sz="2176">
                <a:solidFill>
                  <a:srgbClr val="3D3E44"/>
                </a:solidFill>
                <a:latin typeface="Inter Bold"/>
                <a:ea typeface="Inter Bold"/>
                <a:cs typeface="Inter Bold"/>
                <a:sym typeface="Inter Bold"/>
              </a:rPr>
              <a:t> (Conflict Freedom)</a:t>
            </a:r>
            <a:r>
              <a:rPr lang="en-US" sz="2176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: 100% if no unresolved supersession conflicts exist, 70% if resolved.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446962" y="6484896"/>
            <a:ext cx="218046" cy="370723"/>
            <a:chOff x="0" y="0"/>
            <a:chExt cx="290728" cy="494297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290703" cy="494284"/>
            </a:xfrm>
            <a:custGeom>
              <a:avLst/>
              <a:gdLst/>
              <a:ahLst/>
              <a:cxnLst/>
              <a:rect r="r" b="b" t="t" l="l"/>
              <a:pathLst>
                <a:path h="494284" w="290703">
                  <a:moveTo>
                    <a:pt x="0" y="0"/>
                  </a:moveTo>
                  <a:lnTo>
                    <a:pt x="290703" y="0"/>
                  </a:lnTo>
                  <a:lnTo>
                    <a:pt x="290703" y="494284"/>
                  </a:lnTo>
                  <a:lnTo>
                    <a:pt x="0" y="4942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35" t="0" r="-139" b="-2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992991" y="6904682"/>
            <a:ext cx="17230954" cy="530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4236" indent="-197118" lvl="1">
              <a:lnSpc>
                <a:spcPts val="3474"/>
              </a:lnSpc>
              <a:buFont typeface="Arial"/>
              <a:buChar char="•"/>
            </a:pPr>
            <a:r>
              <a:rPr lang="en-US" sz="2176" i="true">
                <a:solidFill>
                  <a:srgbClr val="3D3E44"/>
                </a:solidFill>
                <a:latin typeface="Inter Light Italics"/>
                <a:ea typeface="Inter Light Italics"/>
                <a:cs typeface="Inter Light Italics"/>
                <a:sym typeface="Inter Light Italics"/>
              </a:rPr>
              <a:t> </a:t>
            </a:r>
            <a:r>
              <a:rPr lang="en-US" b="true" sz="2176">
                <a:solidFill>
                  <a:srgbClr val="3D3E44"/>
                </a:solidFill>
                <a:latin typeface="Inter Bold"/>
                <a:ea typeface="Inter Bold"/>
                <a:cs typeface="Inter Bold"/>
                <a:sym typeface="Inter Bold"/>
              </a:rPr>
              <a:t> (Claim Grounding)</a:t>
            </a:r>
            <a:r>
              <a:rPr lang="en-US" sz="2176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: Verification pass rate of extracted numerical clauses.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446962" y="7038070"/>
            <a:ext cx="217903" cy="370723"/>
            <a:chOff x="0" y="0"/>
            <a:chExt cx="290538" cy="494297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290576" cy="494284"/>
            </a:xfrm>
            <a:custGeom>
              <a:avLst/>
              <a:gdLst/>
              <a:ahLst/>
              <a:cxnLst/>
              <a:rect r="r" b="b" t="t" l="l"/>
              <a:pathLst>
                <a:path h="494284" w="290576">
                  <a:moveTo>
                    <a:pt x="0" y="0"/>
                  </a:moveTo>
                  <a:lnTo>
                    <a:pt x="290576" y="0"/>
                  </a:lnTo>
                  <a:lnTo>
                    <a:pt x="290576" y="494284"/>
                  </a:lnTo>
                  <a:lnTo>
                    <a:pt x="0" y="4942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66" t="0" r="-152" b="-2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992991" y="7677845"/>
            <a:ext cx="17230954" cy="530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Users can click the Confidence badge in the UI to inspect the exact mathematical contributions of each factor.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987248" y="0"/>
            <a:ext cx="19289088" cy="10850380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976789"/>
            <a:ext cx="16315868" cy="684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2"/>
              </a:lnSpc>
            </a:pPr>
            <a:r>
              <a:rPr lang="en-US" sz="4128" b="true">
                <a:solidFill>
                  <a:srgbClr val="7476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Business Impact &amp; Production Roadmap</a:t>
            </a:r>
          </a:p>
        </p:txBody>
      </p:sp>
      <p:sp>
        <p:nvSpPr>
          <p:cNvPr name="Freeform 7" id="7" descr="preencoded.png"/>
          <p:cNvSpPr/>
          <p:nvPr/>
        </p:nvSpPr>
        <p:spPr>
          <a:xfrm flipH="false" flipV="false" rot="0">
            <a:off x="992991" y="2079708"/>
            <a:ext cx="3869331" cy="2478138"/>
          </a:xfrm>
          <a:custGeom>
            <a:avLst/>
            <a:gdLst/>
            <a:ahLst/>
            <a:cxnLst/>
            <a:rect r="r" b="b" t="t" l="l"/>
            <a:pathLst>
              <a:path h="2478138" w="3869331">
                <a:moveTo>
                  <a:pt x="0" y="0"/>
                </a:moveTo>
                <a:lnTo>
                  <a:pt x="3869331" y="0"/>
                </a:lnTo>
                <a:lnTo>
                  <a:pt x="3869331" y="2478138"/>
                </a:lnTo>
                <a:lnTo>
                  <a:pt x="0" y="24781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255" r="0" b="-255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2799940" y="2239232"/>
            <a:ext cx="255289" cy="319192"/>
            <a:chOff x="0" y="0"/>
            <a:chExt cx="340385" cy="4255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40380" cy="425584"/>
            </a:xfrm>
            <a:custGeom>
              <a:avLst/>
              <a:gdLst/>
              <a:ahLst/>
              <a:cxnLst/>
              <a:rect r="r" b="b" t="t" l="l"/>
              <a:pathLst>
                <a:path h="425584" w="340380">
                  <a:moveTo>
                    <a:pt x="0" y="0"/>
                  </a:moveTo>
                  <a:lnTo>
                    <a:pt x="340380" y="0"/>
                  </a:lnTo>
                  <a:lnTo>
                    <a:pt x="340380" y="425584"/>
                  </a:lnTo>
                  <a:lnTo>
                    <a:pt x="0" y="4255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0421" t="0" r="-110423" b="-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340385" cy="435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000000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1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234269" y="2921403"/>
            <a:ext cx="3386766" cy="341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026" b="tru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Decision Velocity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34269" y="3375269"/>
            <a:ext cx="3386766" cy="941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1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Replaces 1.5–2 hours of manual policy hunting with sub‑second verified answers.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5021837" y="2079708"/>
            <a:ext cx="3869484" cy="2478138"/>
          </a:xfrm>
          <a:custGeom>
            <a:avLst/>
            <a:gdLst/>
            <a:ahLst/>
            <a:cxnLst/>
            <a:rect r="r" b="b" t="t" l="l"/>
            <a:pathLst>
              <a:path h="2478138" w="3869484">
                <a:moveTo>
                  <a:pt x="0" y="0"/>
                </a:moveTo>
                <a:lnTo>
                  <a:pt x="3869484" y="0"/>
                </a:lnTo>
                <a:lnTo>
                  <a:pt x="3869484" y="2478138"/>
                </a:lnTo>
                <a:lnTo>
                  <a:pt x="0" y="24781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257" r="0" b="-257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6828930" y="2239232"/>
            <a:ext cx="255289" cy="319192"/>
            <a:chOff x="0" y="0"/>
            <a:chExt cx="340385" cy="4255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40380" cy="425584"/>
            </a:xfrm>
            <a:custGeom>
              <a:avLst/>
              <a:gdLst/>
              <a:ahLst/>
              <a:cxnLst/>
              <a:rect r="r" b="b" t="t" l="l"/>
              <a:pathLst>
                <a:path h="425584" w="340380">
                  <a:moveTo>
                    <a:pt x="0" y="0"/>
                  </a:moveTo>
                  <a:lnTo>
                    <a:pt x="340380" y="0"/>
                  </a:lnTo>
                  <a:lnTo>
                    <a:pt x="340380" y="425584"/>
                  </a:lnTo>
                  <a:lnTo>
                    <a:pt x="0" y="4255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0421" t="0" r="-110423" b="-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340385" cy="435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000000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2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5263115" y="2921403"/>
            <a:ext cx="3386909" cy="341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026" b="tru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Audit &amp; Compliance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263115" y="3375269"/>
            <a:ext cx="3386909" cy="941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1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Eliminates reliance on superseded policies and provides centralized audit logs of automated lookups.</a:t>
            </a:r>
          </a:p>
        </p:txBody>
      </p:sp>
      <p:sp>
        <p:nvSpPr>
          <p:cNvPr name="Freeform 19" id="19" descr="preencoded.png"/>
          <p:cNvSpPr/>
          <p:nvPr/>
        </p:nvSpPr>
        <p:spPr>
          <a:xfrm flipH="false" flipV="false" rot="0">
            <a:off x="992991" y="4717371"/>
            <a:ext cx="7898330" cy="2180253"/>
          </a:xfrm>
          <a:custGeom>
            <a:avLst/>
            <a:gdLst/>
            <a:ahLst/>
            <a:cxnLst/>
            <a:rect r="r" b="b" t="t" l="l"/>
            <a:pathLst>
              <a:path h="2180253" w="7898330">
                <a:moveTo>
                  <a:pt x="0" y="0"/>
                </a:moveTo>
                <a:lnTo>
                  <a:pt x="7898330" y="0"/>
                </a:lnTo>
                <a:lnTo>
                  <a:pt x="7898330" y="2180253"/>
                </a:lnTo>
                <a:lnTo>
                  <a:pt x="0" y="21802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411" r="0" b="-411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4814506" y="4876886"/>
            <a:ext cx="255289" cy="319192"/>
            <a:chOff x="0" y="0"/>
            <a:chExt cx="340385" cy="42559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40380" cy="425584"/>
            </a:xfrm>
            <a:custGeom>
              <a:avLst/>
              <a:gdLst/>
              <a:ahLst/>
              <a:cxnLst/>
              <a:rect r="r" b="b" t="t" l="l"/>
              <a:pathLst>
                <a:path h="425584" w="340380">
                  <a:moveTo>
                    <a:pt x="0" y="0"/>
                  </a:moveTo>
                  <a:lnTo>
                    <a:pt x="340380" y="0"/>
                  </a:lnTo>
                  <a:lnTo>
                    <a:pt x="340380" y="425584"/>
                  </a:lnTo>
                  <a:lnTo>
                    <a:pt x="0" y="4255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0421" t="0" r="-110423" b="-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340385" cy="435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000000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3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234269" y="5559066"/>
            <a:ext cx="7415765" cy="341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026" b="tru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Workflow Automation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34269" y="6012923"/>
            <a:ext cx="7415765" cy="643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1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Auto‑generates audit spreadsheets and procurement emails to reduce manager friction.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92991" y="7029469"/>
            <a:ext cx="7898330" cy="941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1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The KOHLER agent pairs foundation models with deterministic security, temporal reasoning, and human‑in‑the‑loop governance for a production‑ready enterprise AI.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0407386" y="3485893"/>
            <a:ext cx="5923674" cy="2601163"/>
            <a:chOff x="0" y="0"/>
            <a:chExt cx="7898232" cy="3468218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7898257" cy="3468243"/>
            </a:xfrm>
            <a:custGeom>
              <a:avLst/>
              <a:gdLst/>
              <a:ahLst/>
              <a:cxnLst/>
              <a:rect r="r" b="b" t="t" l="l"/>
              <a:pathLst>
                <a:path h="3468243" w="7898257">
                  <a:moveTo>
                    <a:pt x="0" y="0"/>
                  </a:moveTo>
                  <a:lnTo>
                    <a:pt x="7898257" y="0"/>
                  </a:lnTo>
                  <a:lnTo>
                    <a:pt x="7898257" y="3468243"/>
                  </a:lnTo>
                  <a:lnTo>
                    <a:pt x="0" y="34682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23" t="0" r="-23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92991" y="8293827"/>
            <a:ext cx="16315868" cy="1005230"/>
            <a:chOff x="0" y="0"/>
            <a:chExt cx="21754490" cy="134030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754464" cy="1340358"/>
            </a:xfrm>
            <a:custGeom>
              <a:avLst/>
              <a:gdLst/>
              <a:ahLst/>
              <a:cxnLst/>
              <a:rect r="r" b="b" t="t" l="l"/>
              <a:pathLst>
                <a:path h="1340358" w="21754464">
                  <a:moveTo>
                    <a:pt x="0" y="255397"/>
                  </a:moveTo>
                  <a:cubicBezTo>
                    <a:pt x="0" y="114300"/>
                    <a:pt x="114300" y="0"/>
                    <a:pt x="255397" y="0"/>
                  </a:cubicBezTo>
                  <a:lnTo>
                    <a:pt x="21499068" y="0"/>
                  </a:lnTo>
                  <a:cubicBezTo>
                    <a:pt x="21640164" y="0"/>
                    <a:pt x="21754464" y="114300"/>
                    <a:pt x="21754464" y="255397"/>
                  </a:cubicBezTo>
                  <a:lnTo>
                    <a:pt x="21754464" y="1084961"/>
                  </a:lnTo>
                  <a:cubicBezTo>
                    <a:pt x="21754464" y="1226058"/>
                    <a:pt x="21640164" y="1340358"/>
                    <a:pt x="21499068" y="1340358"/>
                  </a:cubicBezTo>
                  <a:lnTo>
                    <a:pt x="255397" y="1340358"/>
                  </a:lnTo>
                  <a:cubicBezTo>
                    <a:pt x="114300" y="1340358"/>
                    <a:pt x="0" y="1225931"/>
                    <a:pt x="0" y="1084961"/>
                  </a:cubicBezTo>
                  <a:close/>
                </a:path>
              </a:pathLst>
            </a:custGeom>
            <a:solidFill>
              <a:srgbClr val="DFE1EC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205674" y="8530047"/>
            <a:ext cx="266005" cy="212693"/>
            <a:chOff x="0" y="0"/>
            <a:chExt cx="354673" cy="283591"/>
          </a:xfrm>
        </p:grpSpPr>
        <p:sp>
          <p:nvSpPr>
            <p:cNvPr name="Freeform 31" id="31" descr="preencoded.png"/>
            <p:cNvSpPr/>
            <p:nvPr/>
          </p:nvSpPr>
          <p:spPr>
            <a:xfrm flipH="false" flipV="false" rot="0">
              <a:off x="0" y="0"/>
              <a:ext cx="354711" cy="283591"/>
            </a:xfrm>
            <a:custGeom>
              <a:avLst/>
              <a:gdLst/>
              <a:ahLst/>
              <a:cxnLst/>
              <a:rect r="r" b="b" t="t" l="l"/>
              <a:pathLst>
                <a:path h="283591" w="354711">
                  <a:moveTo>
                    <a:pt x="0" y="0"/>
                  </a:moveTo>
                  <a:lnTo>
                    <a:pt x="354711" y="0"/>
                  </a:lnTo>
                  <a:lnTo>
                    <a:pt x="354711" y="283591"/>
                  </a:lnTo>
                  <a:lnTo>
                    <a:pt x="0" y="2835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1365" r="10" b="-1365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684372" y="8458895"/>
            <a:ext cx="15411793" cy="643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1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Takeaway: A mature vision for enterprise AI — deterministic access, temporal policy reasoning, and artifact synthesis enable secure, auditable, high‑value automation.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DAHVjeAHci0</dc:identifier>
  <dcterms:modified xsi:type="dcterms:W3CDTF">2011-08-01T06:04:30Z</dcterms:modified>
  <cp:revision>1</cp:revision>
  <dc:title>KOHLER Enterprise Intelligence Agent - Pitch Deck</dc:title>
</cp:coreProperties>
</file>